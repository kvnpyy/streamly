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  <p:sldMasterId id="2147483661" r:id="rId6"/>
  </p:sldMasterIdLst>
  <p:notesMasterIdLst>
    <p:notesMasterId r:id="rId7"/>
  </p:notesMasterIdLst>
  <p:sldIdLst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y="6858000" cx="9144000"/>
  <p:notesSz cx="6858000" cy="9144000"/>
  <p:embeddedFontLst>
    <p:embeddedFont>
      <p:font typeface="Constantia"/>
      <p:regular r:id="rId20"/>
      <p:bold r:id="rId21"/>
      <p:italic r:id="rId22"/>
      <p:boldItalic r:id="rId23"/>
    </p:embeddedFont>
    <p:embeddedFont>
      <p:font typeface="Century Gothic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5375610-7600-4973-BF82-191DA6F836F1}">
  <a:tblStyle styleId="{25375610-7600-4973-BF82-191DA6F836F1}" styleName="Table_0">
    <a:wholeTbl>
      <a:tcTxStyle b="off" i="off">
        <a:font>
          <a:latin typeface="Constantia"/>
          <a:ea typeface="Constantia"/>
          <a:cs typeface="Constantia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5"/>
          </a:solidFill>
        </a:fill>
      </a:tcStyle>
    </a:wholeTbl>
    <a:band1H>
      <a:tcTxStyle/>
      <a:tcStyle>
        <a:fill>
          <a:solidFill>
            <a:srgbClr val="CAD4EA"/>
          </a:solidFill>
        </a:fill>
      </a:tcStyle>
    </a:band1H>
    <a:band2H>
      <a:tcTxStyle/>
    </a:band2H>
    <a:band1V>
      <a:tcTxStyle/>
      <a:tcStyle>
        <a:fill>
          <a:solidFill>
            <a:srgbClr val="CAD4EA"/>
          </a:solidFill>
        </a:fill>
      </a:tcStyle>
    </a:band1V>
    <a:band2V>
      <a:tcTxStyle/>
    </a:band2V>
    <a:lastCol>
      <a:tcTxStyle b="on" i="off">
        <a:font>
          <a:latin typeface="Constantia"/>
          <a:ea typeface="Constantia"/>
          <a:cs typeface="Constantia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onstantia"/>
          <a:ea typeface="Constantia"/>
          <a:cs typeface="Constantia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onstantia"/>
          <a:ea typeface="Constantia"/>
          <a:cs typeface="Constantia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onstantia"/>
          <a:ea typeface="Constantia"/>
          <a:cs typeface="Constantia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F0D7D541-CF8F-4543-9F64-9DD65BD08CB1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font" Target="fonts/Constantia-regular.fntdata"/><Relationship Id="rId21" Type="http://schemas.openxmlformats.org/officeDocument/2006/relationships/font" Target="fonts/Constantia-bold.fntdata"/><Relationship Id="rId22" Type="http://schemas.openxmlformats.org/officeDocument/2006/relationships/font" Target="fonts/Constantia-italic.fntdata"/><Relationship Id="rId23" Type="http://schemas.openxmlformats.org/officeDocument/2006/relationships/font" Target="fonts/Constantia-boldItalic.fntdata"/><Relationship Id="rId24" Type="http://schemas.openxmlformats.org/officeDocument/2006/relationships/font" Target="fonts/CenturyGothic-regular.fntdata"/><Relationship Id="rId25" Type="http://schemas.openxmlformats.org/officeDocument/2006/relationships/font" Target="fonts/CenturyGothic-bold.fntdata"/><Relationship Id="rId26" Type="http://schemas.openxmlformats.org/officeDocument/2006/relationships/font" Target="fonts/CenturyGothic-italic.fntdata"/><Relationship Id="rId27" Type="http://schemas.openxmlformats.org/officeDocument/2006/relationships/font" Target="fonts/CenturyGothic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bg>
      <p:bgPr>
        <a:gradFill>
          <a:gsLst>
            <a:gs pos="0">
              <a:srgbClr val="439FD7"/>
            </a:gs>
            <a:gs pos="25000">
              <a:srgbClr val="4397CA"/>
            </a:gs>
            <a:gs pos="100000">
              <a:srgbClr val="00466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  <a:defRPr b="1" sz="5600">
                <a:solidFill>
                  <a:srgbClr val="4CE0E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subTitle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>
            <a:lvl1pPr lvl="0" marR="45720" algn="r">
              <a:spcBef>
                <a:spcPts val="520"/>
              </a:spcBef>
              <a:spcAft>
                <a:spcPts val="0"/>
              </a:spcAft>
              <a:buSzPts val="247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bg>
      <p:bgPr>
        <a:gradFill>
          <a:gsLst>
            <a:gs pos="0">
              <a:srgbClr val="439FD7"/>
            </a:gs>
            <a:gs pos="25000">
              <a:srgbClr val="4397CA"/>
            </a:gs>
            <a:gs pos="100000">
              <a:srgbClr val="00466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530352" y="1316736"/>
            <a:ext cx="7772400" cy="13624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4AE3AC"/>
              </a:buClr>
              <a:buSzPts val="5600"/>
              <a:buFont typeface="Calibri"/>
              <a:buNone/>
              <a:defRPr b="1" sz="5600" cap="none">
                <a:solidFill>
                  <a:srgbClr val="4AE3A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530352" y="2704664"/>
            <a:ext cx="7772400" cy="1509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spcBef>
                <a:spcPts val="440"/>
              </a:spcBef>
              <a:spcAft>
                <a:spcPts val="0"/>
              </a:spcAft>
              <a:buSzPts val="2090"/>
              <a:buNone/>
              <a:defRPr sz="22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53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>
                <a:solidFill>
                  <a:schemeClr val="lt1"/>
                </a:solidFill>
              </a:defRPr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" type="body"/>
          </p:nvPr>
        </p:nvSpPr>
        <p:spPr>
          <a:xfrm>
            <a:off x="457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algn="l"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294639" lvl="4" marL="22860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2" type="body"/>
          </p:nvPr>
        </p:nvSpPr>
        <p:spPr>
          <a:xfrm>
            <a:off x="4648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algn="l"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294639" lvl="4" marL="22860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" type="body"/>
          </p:nvPr>
        </p:nvSpPr>
        <p:spPr>
          <a:xfrm>
            <a:off x="457200" y="1855248"/>
            <a:ext cx="4040188" cy="659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2" type="body"/>
          </p:nvPr>
        </p:nvSpPr>
        <p:spPr>
          <a:xfrm>
            <a:off x="4645025" y="1859757"/>
            <a:ext cx="4041775" cy="654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3" type="body"/>
          </p:nvPr>
        </p:nvSpPr>
        <p:spPr>
          <a:xfrm>
            <a:off x="457200" y="2514600"/>
            <a:ext cx="4040188" cy="3845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61315" lvl="0" marL="457200" algn="l"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39" lvl="3" marL="18288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39" lvl="4" marL="22860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4" type="body"/>
          </p:nvPr>
        </p:nvSpPr>
        <p:spPr>
          <a:xfrm>
            <a:off x="4645025" y="2514600"/>
            <a:ext cx="4041775" cy="3845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61315" lvl="0" marL="457200" algn="l"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39" lvl="3" marL="18288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39" lvl="4" marL="22860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/>
          <p:nvPr>
            <p:ph type="title"/>
          </p:nvPr>
        </p:nvSpPr>
        <p:spPr>
          <a:xfrm>
            <a:off x="457200" y="704088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 b="0" sz="5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/>
          <p:nvPr>
            <p:ph type="title"/>
          </p:nvPr>
        </p:nvSpPr>
        <p:spPr>
          <a:xfrm>
            <a:off x="685800" y="514352"/>
            <a:ext cx="2743200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  <a:defRPr b="0" sz="2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" type="body"/>
          </p:nvPr>
        </p:nvSpPr>
        <p:spPr>
          <a:xfrm>
            <a:off x="685800" y="1676400"/>
            <a:ext cx="2743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1827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33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2" type="body"/>
          </p:nvPr>
        </p:nvSpPr>
        <p:spPr>
          <a:xfrm>
            <a:off x="3575050" y="1676400"/>
            <a:ext cx="511175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97510" lvl="0" marL="457200" algn="l">
              <a:spcBef>
                <a:spcPts val="560"/>
              </a:spcBef>
              <a:spcAft>
                <a:spcPts val="0"/>
              </a:spcAft>
              <a:buSzPts val="2660"/>
              <a:buChar char="⚫"/>
              <a:defRPr sz="2800"/>
            </a:lvl1pPr>
            <a:lvl2pPr indent="-368935" lvl="1" marL="914400" algn="l">
              <a:spcBef>
                <a:spcPts val="520"/>
              </a:spcBef>
              <a:spcAft>
                <a:spcPts val="0"/>
              </a:spcAft>
              <a:buSzPts val="2210"/>
              <a:buChar char="⚫"/>
              <a:defRPr sz="2600"/>
            </a:lvl2pPr>
            <a:lvl3pPr indent="-335280" lvl="2" marL="1371600" algn="l">
              <a:spcBef>
                <a:spcPts val="480"/>
              </a:spcBef>
              <a:spcAft>
                <a:spcPts val="0"/>
              </a:spcAft>
              <a:buSzPts val="1680"/>
              <a:buChar char="⚫"/>
              <a:defRPr sz="2400"/>
            </a:lvl3pPr>
            <a:lvl4pPr indent="-311150" lvl="3" marL="1828800" algn="l">
              <a:spcBef>
                <a:spcPts val="400"/>
              </a:spcBef>
              <a:spcAft>
                <a:spcPts val="0"/>
              </a:spcAft>
              <a:buSzPts val="1300"/>
              <a:buChar char="⚫"/>
              <a:defRPr sz="2000"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showMasterSp="0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/>
          <p:nvPr/>
        </p:nvSpPr>
        <p:spPr>
          <a:xfrm flipH="1" rot="-10380000">
            <a:off x="3165753" y="1108077"/>
            <a:ext cx="5257800" cy="4114800"/>
          </a:xfrm>
          <a:prstGeom prst="snipRoundRect">
            <a:avLst>
              <a:gd fmla="val 0" name="adj1"/>
              <a:gd fmla="val 3646" name="adj2"/>
            </a:avLst>
          </a:prstGeom>
          <a:solidFill>
            <a:srgbClr val="FFFFFF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sx="98500" kx="100000" rotWithShape="0" algn="tl" dir="7500000" dist="38500" sy="100080">
              <a:srgbClr val="000000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68" name="Google Shape;68;p10"/>
          <p:cNvSpPr/>
          <p:nvPr/>
        </p:nvSpPr>
        <p:spPr>
          <a:xfrm flipH="1" rot="-10380000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  <a:effectLst>
            <a:outerShdw blurRad="19685" rotWithShape="0" algn="tl" dir="12900000" dist="6350">
              <a:srgbClr val="000000">
                <a:alpha val="4666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609600" y="1176996"/>
            <a:ext cx="2212848" cy="158262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b="1" sz="2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" type="body"/>
          </p:nvPr>
        </p:nvSpPr>
        <p:spPr>
          <a:xfrm>
            <a:off x="609600" y="2828785"/>
            <a:ext cx="2209800" cy="2179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64000" spcFirstLastPara="1" rIns="45700" wrap="square" tIns="45700">
            <a:normAutofit/>
          </a:bodyPr>
          <a:lstStyle>
            <a:lvl1pPr indent="-228600" lvl="0" marL="457200" algn="l">
              <a:spcBef>
                <a:spcPts val="250"/>
              </a:spcBef>
              <a:spcAft>
                <a:spcPts val="0"/>
              </a:spcAft>
              <a:buSzPts val="1235"/>
              <a:buFont typeface="Constantia"/>
              <a:buNone/>
              <a:defRPr sz="1300"/>
            </a:lvl1pPr>
            <a:lvl2pPr indent="-293369" lvl="1" marL="914400" algn="l">
              <a:spcBef>
                <a:spcPts val="240"/>
              </a:spcBef>
              <a:spcAft>
                <a:spcPts val="0"/>
              </a:spcAft>
              <a:buSzPts val="1020"/>
              <a:buChar char="⚫"/>
              <a:defRPr sz="1200"/>
            </a:lvl2pPr>
            <a:lvl3pPr indent="-273050" lvl="2" marL="1371600" algn="l">
              <a:spcBef>
                <a:spcPts val="200"/>
              </a:spcBef>
              <a:spcAft>
                <a:spcPts val="0"/>
              </a:spcAft>
              <a:buSzPts val="700"/>
              <a:buChar char="⚫"/>
              <a:defRPr sz="1000"/>
            </a:lvl3pPr>
            <a:lvl4pPr indent="-265747" lvl="3" marL="1828800" algn="l">
              <a:spcBef>
                <a:spcPts val="180"/>
              </a:spcBef>
              <a:spcAft>
                <a:spcPts val="0"/>
              </a:spcAft>
              <a:buSzPts val="585"/>
              <a:buChar char="⚫"/>
              <a:defRPr sz="900"/>
            </a:lvl4pPr>
            <a:lvl5pPr indent="-265747" lvl="4" marL="2286000" algn="l">
              <a:spcBef>
                <a:spcPts val="180"/>
              </a:spcBef>
              <a:spcAft>
                <a:spcPts val="0"/>
              </a:spcAft>
              <a:buSzPts val="585"/>
              <a:buChar char="⚫"/>
              <a:defRPr sz="9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2" type="sldNum"/>
          </p:nvPr>
        </p:nvSpPr>
        <p:spPr>
          <a:xfrm>
            <a:off x="8077200" y="6356350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4" name="Google Shape;74;p10"/>
          <p:cNvSpPr/>
          <p:nvPr>
            <p:ph idx="2" type="pic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lt2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10"/>
          <p:cNvSpPr/>
          <p:nvPr/>
        </p:nvSpPr>
        <p:spPr>
          <a:xfrm flipH="1" rot="10800000">
            <a:off x="-9525" y="5816600"/>
            <a:ext cx="9163050" cy="1041400"/>
          </a:xfrm>
          <a:custGeom>
            <a:rect b="b" l="l" r="r" t="t"/>
            <a:pathLst>
              <a:path extrusionOk="0" h="656" w="5772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76" name="Google Shape;76;p10"/>
          <p:cNvSpPr/>
          <p:nvPr/>
        </p:nvSpPr>
        <p:spPr>
          <a:xfrm flipH="1" rot="10800000">
            <a:off x="4381500" y="6219825"/>
            <a:ext cx="4762500" cy="638175"/>
          </a:xfrm>
          <a:custGeom>
            <a:rect b="b" l="l" r="r" t="t"/>
            <a:pathLst>
              <a:path extrusionOk="0" h="595" w="300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1" type="body"/>
          </p:nvPr>
        </p:nvSpPr>
        <p:spPr>
          <a:xfrm rot="5400000">
            <a:off x="2377440" y="15240"/>
            <a:ext cx="438912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1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1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 txBox="1"/>
          <p:nvPr>
            <p:ph type="title"/>
          </p:nvPr>
        </p:nvSpPr>
        <p:spPr>
          <a:xfrm rot="5400000">
            <a:off x="5052219" y="2491582"/>
            <a:ext cx="5211763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" type="body"/>
          </p:nvPr>
        </p:nvSpPr>
        <p:spPr>
          <a:xfrm rot="5400000">
            <a:off x="861219" y="510382"/>
            <a:ext cx="5211763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2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2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bg>
      <p:bgPr>
        <a:gradFill>
          <a:gsLst>
            <a:gs pos="0">
              <a:srgbClr val="439FD7"/>
            </a:gs>
            <a:gs pos="25000">
              <a:srgbClr val="4397CA"/>
            </a:gs>
            <a:gs pos="100000">
              <a:srgbClr val="00466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 txBox="1"/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  <a:defRPr b="1" sz="5600">
                <a:solidFill>
                  <a:srgbClr val="4CE0E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4"/>
          <p:cNvSpPr txBox="1"/>
          <p:nvPr>
            <p:ph idx="1" type="subTitle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>
            <a:lvl1pPr lvl="0" marR="45720" algn="r">
              <a:spcBef>
                <a:spcPts val="520"/>
              </a:spcBef>
              <a:spcAft>
                <a:spcPts val="0"/>
              </a:spcAft>
              <a:buSzPts val="247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03" name="Google Shape;103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4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4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none" tx="0" sx="65000" ty="0" sy="65000"/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-9525" y="-7144"/>
            <a:ext cx="9163050" cy="1041400"/>
          </a:xfrm>
          <a:custGeom>
            <a:rect b="b" l="l" r="r" t="t"/>
            <a:pathLst>
              <a:path extrusionOk="0" h="656" w="5772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7" name="Google Shape;7;p1"/>
          <p:cNvSpPr/>
          <p:nvPr/>
        </p:nvSpPr>
        <p:spPr>
          <a:xfrm>
            <a:off x="4381500" y="-7144"/>
            <a:ext cx="4762500" cy="638175"/>
          </a:xfrm>
          <a:custGeom>
            <a:rect b="b" l="l" r="r" t="t"/>
            <a:pathLst>
              <a:path extrusionOk="0" h="595" w="300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marR="0" rtl="0" algn="l"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⚫"/>
              <a:defRPr b="0" i="0" sz="2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-35814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-321944" lvl="2" marL="1371600" marR="0" rtl="0" algn="l"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b="0" i="0" sz="21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-302894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170"/>
              <a:buFont typeface="Noto Sans Symbols"/>
              <a:buChar char="⚫"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-294639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accent4"/>
              </a:buClr>
              <a:buSzPts val="1040"/>
              <a:buFont typeface="Noto Sans Symbols"/>
              <a:buChar char="⚫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-320039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-309879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nstantia"/>
              <a:buChar char="•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-317500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nstantia"/>
              <a:buChar char="•"/>
              <a:defRPr b="0" i="0" sz="1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3" name="Google Shape;13;p1"/>
          <p:cNvGrpSpPr/>
          <p:nvPr/>
        </p:nvGrpSpPr>
        <p:grpSpPr>
          <a:xfrm>
            <a:off x="-29294" y="-16113"/>
            <a:ext cx="9198255" cy="1086266"/>
            <a:chOff x="-29322" y="-1971"/>
            <a:chExt cx="9198255" cy="1086266"/>
          </a:xfrm>
        </p:grpSpPr>
        <p:sp>
          <p:nvSpPr>
            <p:cNvPr id="14" name="Google Shape;14;p1"/>
            <p:cNvSpPr/>
            <p:nvPr/>
          </p:nvSpPr>
          <p:spPr>
            <a:xfrm rot="-164308">
              <a:off x="-19045" y="216550"/>
              <a:ext cx="9163050" cy="649224"/>
            </a:xfrm>
            <a:custGeom>
              <a:rect b="b" l="l" r="r" t="t"/>
              <a:pathLst>
                <a:path extrusionOk="0" h="1055" w="5772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cap="flat" cmpd="sng" w="10775">
              <a:solidFill>
                <a:srgbClr val="09B6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 rot="-164308">
              <a:off x="-14309" y="290003"/>
              <a:ext cx="9175812" cy="530352"/>
            </a:xfrm>
            <a:custGeom>
              <a:rect b="b" l="l" r="r" t="t"/>
              <a:pathLst>
                <a:path extrusionOk="0" h="854" w="5766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none" tx="0" sx="65000" ty="0" sy="65000"/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/>
          <p:nvPr/>
        </p:nvSpPr>
        <p:spPr>
          <a:xfrm>
            <a:off x="-9525" y="-7144"/>
            <a:ext cx="9163050" cy="1041400"/>
          </a:xfrm>
          <a:custGeom>
            <a:rect b="b" l="l" r="r" t="t"/>
            <a:pathLst>
              <a:path extrusionOk="0" h="656" w="5772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4381500" y="-7144"/>
            <a:ext cx="4762500" cy="638175"/>
          </a:xfrm>
          <a:custGeom>
            <a:rect b="b" l="l" r="r" t="t"/>
            <a:pathLst>
              <a:path extrusionOk="0" h="595" w="300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2" name="Google Shape;92;p13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alibri"/>
              <a:buNone/>
              <a:defRPr b="0" i="0" sz="4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3" name="Google Shape;93;p13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marR="0" rtl="0" algn="l"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⚫"/>
              <a:defRPr b="0" i="0" sz="26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-35814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-321944" lvl="2" marL="1371600" marR="0" rtl="0" algn="l"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b="0" i="0" sz="21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-302894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170"/>
              <a:buFont typeface="Noto Sans Symbols"/>
              <a:buChar char="⚫"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-294639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accent4"/>
              </a:buClr>
              <a:buSzPts val="1040"/>
              <a:buFont typeface="Noto Sans Symbols"/>
              <a:buChar char="⚫"/>
              <a:defRPr b="0" i="0" sz="16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-320039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-309879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b="0" i="0" sz="16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nstantia"/>
              <a:buChar char="•"/>
              <a:defRPr b="0" i="0" sz="16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-317500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onstantia"/>
              <a:buChar char="•"/>
              <a:defRPr b="0" i="0" sz="14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94" name="Google Shape;9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95" name="Google Shape;95;p13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96" name="Google Shape;96;p13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20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20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20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20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20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20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20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20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20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97" name="Google Shape;97;p13"/>
          <p:cNvGrpSpPr/>
          <p:nvPr/>
        </p:nvGrpSpPr>
        <p:grpSpPr>
          <a:xfrm>
            <a:off x="-29294" y="-16113"/>
            <a:ext cx="9198255" cy="1086266"/>
            <a:chOff x="-29322" y="-1971"/>
            <a:chExt cx="9198255" cy="1086266"/>
          </a:xfrm>
        </p:grpSpPr>
        <p:sp>
          <p:nvSpPr>
            <p:cNvPr id="98" name="Google Shape;98;p13"/>
            <p:cNvSpPr/>
            <p:nvPr/>
          </p:nvSpPr>
          <p:spPr>
            <a:xfrm rot="-164308">
              <a:off x="-19045" y="216550"/>
              <a:ext cx="9163050" cy="649224"/>
            </a:xfrm>
            <a:custGeom>
              <a:rect b="b" l="l" r="r" t="t"/>
              <a:pathLst>
                <a:path extrusionOk="0" h="1055" w="5772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cap="flat" cmpd="sng" w="10775">
              <a:solidFill>
                <a:srgbClr val="09B6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99" name="Google Shape;99;p13"/>
            <p:cNvSpPr/>
            <p:nvPr/>
          </p:nvSpPr>
          <p:spPr>
            <a:xfrm rot="-164308">
              <a:off x="-14309" y="290003"/>
              <a:ext cx="9175812" cy="530352"/>
            </a:xfrm>
            <a:custGeom>
              <a:rect b="b" l="l" r="r" t="t"/>
              <a:pathLst>
                <a:path extrusionOk="0" h="854" w="5766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6.jpg"/><Relationship Id="rId5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1.jpg"/><Relationship Id="rId5" Type="http://schemas.openxmlformats.org/officeDocument/2006/relationships/image" Target="../media/image12.jpg"/><Relationship Id="rId6" Type="http://schemas.openxmlformats.org/officeDocument/2006/relationships/image" Target="../media/image13.jpg"/><Relationship Id="rId7" Type="http://schemas.openxmlformats.org/officeDocument/2006/relationships/image" Target="../media/image1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 txBox="1"/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  <a:defRPr sz="1400"/>
            </a:pPr>
            <a:r>
              <a:t>Streamly — Application UI Description</a:t>
            </a:r>
            <a:endParaRPr/>
          </a:p>
        </p:txBody>
      </p:sp>
      <p:sp>
        <p:nvSpPr>
          <p:cNvPr id="117" name="Google Shape;117;p16"/>
          <p:cNvSpPr txBox="1"/>
          <p:nvPr>
            <p:ph idx="1" type="subTitle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/>
          <a:p>
            <a:pPr indent="0" lvl="0" marL="0" marR="45720" rtl="0" algn="r">
              <a:spcBef>
                <a:spcPts val="0"/>
              </a:spcBef>
              <a:spcAft>
                <a:spcPts val="0"/>
              </a:spcAft>
              <a:buSzPts val="2470"/>
              <a:buNone/>
              <a:defRPr sz="1400"/>
            </a:pPr>
            <a:r>
              <a:t>Streamly (iptvwebplayer.org)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/>
              <a:t>Revision History</a:t>
            </a:r>
            <a:endParaRPr/>
          </a:p>
        </p:txBody>
      </p:sp>
      <p:graphicFrame>
        <p:nvGraphicFramePr>
          <p:cNvPr id="123" name="Google Shape;123;p17"/>
          <p:cNvGraphicFramePr/>
          <p:nvPr/>
        </p:nvGraphicFramePr>
        <p:xfrm>
          <a:off x="457200" y="193516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{25375610-7600-4973-BF82-191DA6F836F1}</a:tableStyleId>
              </a:tblPr>
              <a:tblGrid>
                <a:gridCol w="1090475"/>
                <a:gridCol w="1152125"/>
                <a:gridCol w="3929600"/>
                <a:gridCol w="2057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Version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Date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Description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Author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r>
                        <a:t>1.0</a:t>
                      </a: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r>
                        <a:t>2026-06-24</a:t>
                      </a: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r>
                        <a:t>Initial Samsung TV certification submission</a:t>
                      </a:r>
                    </a:p>
                    <a:p>
                      <a:r>
                        <a:t>Application package version 1.0.2</a:t>
                      </a: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r>
                        <a:t>Kevin Payoyo</a:t>
                      </a: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/>
              <a:t>Contents</a:t>
            </a:r>
            <a:endParaRPr/>
          </a:p>
        </p:txBody>
      </p:sp>
      <p:sp>
        <p:nvSpPr>
          <p:cNvPr id="129" name="Google Shape;129;p18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UI Structure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Usage Scenario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Menu &amp; function description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Key policy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How to change languages</a:t>
            </a:r>
            <a:endParaRPr/>
          </a:p>
          <a:p>
            <a:pPr indent="-117475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117475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/>
              <a:t>UI Structure</a:t>
            </a:r>
            <a:endParaRPr/>
          </a:p>
        </p:txBody>
      </p:sp>
      <p:sp>
        <p:nvSpPr>
          <p:cNvPr id="135" name="Google Shape;135;p19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  <a:defRPr sz="1100"/>
            </a:pPr>
            <a:r>
              <a:t>Whole UI Structure (all screens — navigation flow)</a:t>
            </a:r>
            <a:br/>
            <a:br/>
            <a:r>
              <a:t>[Login Screen]</a:t>
            </a:r>
            <a:br/>
            <a:r>
              <a:t>  ├─ Link with PIN (default on TV)</a:t>
            </a:r>
            <a:br/>
            <a:r>
              <a:t>  ├─ Xtream tab</a:t>
            </a:r>
            <a:br/>
            <a:r>
              <a:t>  └─ M3U URL tab</a:t>
            </a:r>
            <a:br/>
            <a:r>
              <a:t>       ↓ (successful sign-in)</a:t>
            </a:r>
            <a:br/>
            <a:r>
              <a:t>[Home Screen]</a:t>
            </a:r>
            <a:br/>
            <a:r>
              <a:t>  ├─ → [Live TV Screen] → [Player Overlay] → Return → back</a:t>
            </a:r>
            <a:br/>
            <a:r>
              <a:t>  ├─ → [Movies Screen] → [Movie Detail Screen] → [Player Overlay]</a:t>
            </a:r>
            <a:br/>
            <a:r>
              <a:t>  ├─ → [Series Screen] → [Series Detail Screen] → [Episode list] → [Player Overlay]</a:t>
            </a:r>
            <a:br/>
            <a:r>
              <a:t>  ├─ → [Search Screen] → results → detail/play</a:t>
            </a:r>
            <a:br/>
            <a:r>
              <a:t>  ├─ → [Settings Screen]</a:t>
            </a:r>
            <a:br/>
            <a:r>
              <a:t>  └─ → [Continue Watching] → resume → [Player Overlay]</a:t>
            </a:r>
            <a:br/>
            <a:r>
              <a:t>[Player Overlay] — full-screen video; Return exits to previous screen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  <a:defRPr sz="1400"/>
            </a:pPr>
            <a:r>
              <a:t>Menu &amp; function — [Login Screen] + [Settings Screen]</a:t>
            </a:r>
            <a:endParaRPr i="1">
              <a:solidFill>
                <a:srgbClr val="54A838"/>
              </a:solidFill>
            </a:endParaRPr>
          </a:p>
        </p:txBody>
      </p:sp>
      <p:pic>
        <p:nvPicPr>
          <p:cNvPr id="141" name="Picture 140" descr="01-logi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331720"/>
            <a:ext cx="4160520" cy="2340292"/>
          </a:xfrm>
          <a:prstGeom prst="rect">
            <a:avLst/>
          </a:prstGeom>
        </p:spPr>
      </p:pic>
      <p:pic>
        <p:nvPicPr>
          <p:cNvPr id="142" name="Picture 141" descr="08-setting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2331720"/>
            <a:ext cx="4160520" cy="23402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  <a:defRPr sz="1400"/>
            </a:pPr>
            <a:r>
              <a:t>Menu &amp; function — [Home Screen]</a:t>
            </a:r>
            <a:endParaRPr i="1">
              <a:solidFill>
                <a:srgbClr val="54A838"/>
              </a:solidFill>
            </a:endParaRPr>
          </a:p>
        </p:txBody>
      </p:sp>
      <p:pic>
        <p:nvPicPr>
          <p:cNvPr id="147" name="Picture 146" descr="04-tv-hom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005840"/>
            <a:ext cx="4206240" cy="23660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2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  <a:defRPr sz="1400"/>
            </a:pPr>
            <a:r>
              <a:t>Menu &amp; function — [Live TV Screen] + [Player Overlay]</a:t>
            </a:r>
            <a:endParaRPr/>
          </a:p>
        </p:txBody>
      </p:sp>
      <p:sp>
        <p:nvSpPr>
          <p:cNvPr id="181" name="Google Shape;181;p22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  <a:defRPr sz="800"/>
            </a:pPr>
            <a:r>
              <a:t>[Live TV Screen] — screenshot 1</a:t>
            </a:r>
            <a:br/>
            <a:r>
              <a:t>| # | Element | Action |</a:t>
            </a:r>
            <a:br/>
            <a:r>
              <a:t>| 1 | Category filter pill | Filter channel list |</a:t>
            </a:r>
            <a:br/>
            <a:r>
              <a:t>| 2 | Channel card | Play live → [Player Overlay] |</a:t>
            </a:r>
            <a:br/>
            <a:r>
              <a:t>| 3 | Now playing panel | Program info (read-only) |</a:t>
            </a:r>
            <a:br/>
            <a:br/>
            <a:r>
              <a:t>[Player Overlay] — screenshot 2</a:t>
            </a:r>
            <a:br/>
            <a:r>
              <a:t>| # | Element | Action |</a:t>
            </a:r>
            <a:br/>
            <a:r>
              <a:t>| 1 | Progress bar | Seek position (VOD) |</a:t>
            </a:r>
            <a:br/>
            <a:r>
              <a:t>| 2 | Play / Pause | Toggle playback |</a:t>
            </a:r>
            <a:br/>
            <a:r>
              <a:t>| 3 | Return (remote) | Exit player to previous screen |</a:t>
            </a:r>
            <a:endParaRPr/>
          </a:p>
        </p:txBody>
      </p:sp>
      <p:pic>
        <p:nvPicPr>
          <p:cNvPr id="182" name="Picture 181" descr="02-live-tv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331720"/>
            <a:ext cx="4160520" cy="2340292"/>
          </a:xfrm>
          <a:prstGeom prst="rect">
            <a:avLst/>
          </a:prstGeom>
        </p:spPr>
      </p:pic>
      <p:pic>
        <p:nvPicPr>
          <p:cNvPr id="183" name="Picture 182" descr="09-play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331720"/>
            <a:ext cx="4160520" cy="23402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3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  <a:defRPr sz="1400"/>
            </a:pPr>
            <a:r>
              <a:t>Usage Scenario — Streamly</a:t>
            </a:r>
            <a:endParaRPr i="1">
              <a:solidFill>
                <a:srgbClr val="54A838"/>
              </a:solidFill>
            </a:endParaRPr>
          </a:p>
        </p:txBody>
      </p:sp>
      <p:sp>
        <p:nvSpPr>
          <p:cNvPr id="187" name="Google Shape;187;p23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280"/>
              <a:buChar char="⚫"/>
              <a:defRPr sz="900"/>
            </a:pPr>
            <a:r>
              <a:t>UC1 — Sign in with PIN (recommended on Samsung TV)</a:t>
            </a:r>
            <a:br/>
            <a:r>
              <a:t>1. On [Login Screen], focus is on Link with PIN tab.</a:t>
            </a:r>
            <a:br/>
            <a:r>
              <a:t>2. On phone/PC: open https://iptvwebplayer.org/login → sign in (UC2 or UC3).</a:t>
            </a:r>
            <a:br/>
            <a:r>
              <a:t>3. On phone/PC: [Settings Screen] → Link a TV with a PIN → copy 6-digit code.</a:t>
            </a:r>
            <a:br/>
            <a:r>
              <a:t>4. On TV [Login Screen]: enter code → Continue → [Home Screen] loads.</a:t>
            </a:r>
            <a:br/>
            <a:br/>
            <a:r>
              <a:t>TEST ACCOUNT (required — login feature):</a:t>
            </a:r>
            <a:br/>
            <a:r>
              <a:t>Server URL (all): https://iptvwebplayer.org/api/review-panel</a:t>
            </a:r>
            <a:br/>
            <a:r>
              <a:t>Password (all): StreamlyReview2026</a:t>
            </a:r>
            <a:br/>
            <a:br/>
            <a:r>
              <a:t>Parallel model-group testing — one username per TV (same playlist):</a:t>
            </a:r>
            <a:br/>
            <a:r>
              <a:t>  MG1: samsung_review (or samsung_review_1)</a:t>
            </a:r>
            <a:br/>
            <a:r>
              <a:t>  MG2: samsung_review_2</a:t>
            </a:r>
            <a:br/>
            <a:r>
              <a:t>  MG3: samsung_review_3 … through samsung_review_12</a:t>
            </a:r>
            <a:br/>
            <a:br/>
            <a:r>
              <a:t>No ads, premium, or account-specific content — all QA logins are identical</a:t>
            </a:r>
            <a:br/>
            <a:r>
              <a:t>except username. Sample Live TV, Movies, Series (public test streams only).</a:t>
            </a:r>
            <a:br/>
            <a:br/>
            <a:r>
              <a:t>PIN alternative: PC login with any account above → Settings → Link TV PIN.</a:t>
            </a:r>
            <a:br/>
            <a:r>
              <a:t>App ID: 3202606046491</a:t>
            </a:r>
            <a:br/>
            <a:br/>
            <a:r>
              <a:t>UC2 — Sign in with Xtream (direct on TV)</a:t>
            </a:r>
            <a:br/>
            <a:r>
              <a:t>1. [Login Screen] → Xtream tab.</a:t>
            </a:r>
            <a:br/>
            <a:r>
              <a:t>2. Enter Server URL, Username, Password.</a:t>
            </a:r>
            <a:br/>
            <a:r>
              <a:t>3. Sign in → [Home Screen].</a:t>
            </a:r>
            <a:br/>
            <a:br/>
            <a:r>
              <a:t>UC3 — Sign in with M3U URL</a:t>
            </a:r>
            <a:br/>
            <a:r>
              <a:t>1. [Login Screen] → M3U URL tab.</a:t>
            </a:r>
            <a:br/>
            <a:r>
              <a:t>2. Paste M3U playlist URL → Sign in → [Home Screen].</a:t>
            </a:r>
            <a:br/>
            <a:br/>
            <a:r>
              <a:t>UC4 — Browse and play Live TV</a:t>
            </a:r>
            <a:br/>
            <a:r>
              <a:t>1. [Home Screen] or top nav → [Live TV Screen].</a:t>
            </a:r>
            <a:br/>
            <a:r>
              <a:t>2. Optional: select category filter pill.</a:t>
            </a:r>
            <a:br/>
            <a:r>
              <a:t>3. Focus channel card → OK → [Player Overlay] plays live stream.</a:t>
            </a:r>
            <a:br/>
            <a:r>
              <a:t>4. Return → exits player to [Live TV Screen].</a:t>
            </a:r>
            <a:br/>
            <a:br/>
            <a:r>
              <a:t>UC5 — Browse and play Movies</a:t>
            </a:r>
            <a:br/>
            <a:r>
              <a:t>1. Top nav → [Movies Screen].</a:t>
            </a:r>
            <a:br/>
            <a:r>
              <a:t>2. Focus movie poster → OK → [Movie Detail Screen].</a:t>
            </a:r>
            <a:br/>
            <a:r>
              <a:t>3. Focus Play → OK → [Player Overlay].</a:t>
            </a:r>
            <a:br/>
            <a:r>
              <a:t>4. Return → back to detail or catalog.</a:t>
            </a:r>
            <a:br/>
            <a:br/>
            <a:r>
              <a:t>UC6 — Browse and play Series</a:t>
            </a:r>
            <a:br/>
            <a:r>
              <a:t>1. Top nav → [Series Screen].</a:t>
            </a:r>
            <a:br/>
            <a:r>
              <a:t>2. Select series → [Series Detail Screen] → select episode → [Player Overlay].</a:t>
            </a:r>
            <a:br/>
            <a:br/>
            <a:r>
              <a:t>UC7 — Search</a:t>
            </a:r>
            <a:br/>
            <a:r>
              <a:t>1. Top nav → [Search Screen].</a:t>
            </a:r>
            <a:br/>
            <a:r>
              <a:t>2. Enter query → select result → play or open detail.</a:t>
            </a:r>
            <a:br/>
            <a:br/>
            <a:r>
              <a:t>UC8 — Settings / PIN pairing</a:t>
            </a:r>
            <a:br/>
            <a:r>
              <a:t>1. Top nav → [Settings Screen].</a:t>
            </a:r>
            <a:br/>
            <a:r>
              <a:t>2. Link a TV with a PIN (for phone-to-TV pairing).</a:t>
            </a:r>
            <a:br/>
            <a:r>
              <a:t>3. Account, preferences, sign out.</a:t>
            </a:r>
            <a:br/>
            <a:br/>
            <a:r>
              <a:t>UC9 — Exit player</a:t>
            </a:r>
            <a:br/>
            <a:r>
              <a:t>1. While [Player Overlay] is visible, press Return → previous browse screen.</a:t>
            </a:r>
            <a:endParaRPr i="1" sz="2400">
              <a:solidFill>
                <a:srgbClr val="54A838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4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  <a:defRPr sz="1400"/>
            </a:pPr>
            <a:r>
              <a:t>Menu &amp; function — [Movies] [Movie Detail] [Series] [Search]</a:t>
            </a:r>
            <a:endParaRPr/>
          </a:p>
        </p:txBody>
      </p:sp>
      <p:sp>
        <p:nvSpPr>
          <p:cNvPr id="194" name="Google Shape;194;p24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  <a:defRPr sz="700"/>
            </a:pPr>
            <a:r>
              <a:t>[Movies Screen] — top-left screenshot</a:t>
            </a:r>
            <a:br/>
            <a:r>
              <a:t>| # | Element | Action |</a:t>
            </a:r>
            <a:br/>
            <a:r>
              <a:t>| 1 | Genre filter | Filter movie grid |</a:t>
            </a:r>
            <a:br/>
            <a:r>
              <a:t>| 2 | Poster card | Open [Movie Detail Screen] |</a:t>
            </a:r>
            <a:br/>
            <a:br/>
            <a:r>
              <a:t>[Movie Detail Screen] — top-right</a:t>
            </a:r>
            <a:br/>
            <a:r>
              <a:t>| # | Element | Action |</a:t>
            </a:r>
            <a:br/>
            <a:r>
              <a:t>| 1 | Play | Start VOD → [Player Overlay] |</a:t>
            </a:r>
            <a:br/>
            <a:r>
              <a:t>| 2 | My List | Toggle favorite |</a:t>
            </a:r>
            <a:br/>
            <a:r>
              <a:t>| 3 | More like this | Open another title |</a:t>
            </a:r>
            <a:br/>
            <a:br/>
            <a:r>
              <a:t>[Series Screen] — bottom-left</a:t>
            </a:r>
            <a:br/>
            <a:r>
              <a:t>| # | Element | Action |</a:t>
            </a:r>
            <a:br/>
            <a:r>
              <a:t>| 1 | Genre filter | Filter series grid |</a:t>
            </a:r>
            <a:br/>
            <a:r>
              <a:t>| 2 | Series poster | Open series detail → episodes |</a:t>
            </a:r>
            <a:br/>
            <a:br/>
            <a:r>
              <a:t>[Search Screen] — bottom-right</a:t>
            </a:r>
            <a:br/>
            <a:r>
              <a:t>| # | Element | Action |</a:t>
            </a:r>
            <a:br/>
            <a:r>
              <a:t>| 1 | Search field | Enter query |</a:t>
            </a:r>
            <a:br/>
            <a:r>
              <a:t>| 2 | Result row | Play or open detail |</a:t>
            </a:r>
            <a:endParaRPr i="1">
              <a:solidFill>
                <a:srgbClr val="54A838"/>
              </a:solidFill>
            </a:endParaRPr>
          </a:p>
        </p:txBody>
      </p:sp>
      <p:pic>
        <p:nvPicPr>
          <p:cNvPr id="195" name="Picture 194" descr="05-movies-gri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331720"/>
            <a:ext cx="4160520" cy="2340292"/>
          </a:xfrm>
          <a:prstGeom prst="rect">
            <a:avLst/>
          </a:prstGeom>
        </p:spPr>
      </p:pic>
      <p:pic>
        <p:nvPicPr>
          <p:cNvPr id="196" name="Picture 195" descr="03-movie-detail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2331720"/>
            <a:ext cx="4160520" cy="2340292"/>
          </a:xfrm>
          <a:prstGeom prst="rect">
            <a:avLst/>
          </a:prstGeom>
        </p:spPr>
      </p:pic>
      <p:pic>
        <p:nvPicPr>
          <p:cNvPr id="197" name="Picture 196" descr="06-series-grid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4892040"/>
            <a:ext cx="4160520" cy="2340292"/>
          </a:xfrm>
          <a:prstGeom prst="rect">
            <a:avLst/>
          </a:prstGeom>
        </p:spPr>
      </p:pic>
      <p:pic>
        <p:nvPicPr>
          <p:cNvPr id="198" name="Picture 197" descr="07-search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7720" y="4892040"/>
            <a:ext cx="4160520" cy="234029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5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  <a:defRPr sz="1400"/>
            </a:pPr>
            <a:r>
              <a:t>Key Policy — Streamly</a:t>
            </a:r>
            <a:endParaRPr i="1">
              <a:solidFill>
                <a:srgbClr val="54A838"/>
              </a:solidFill>
            </a:endParaRPr>
          </a:p>
        </p:txBody>
      </p:sp>
      <p:sp>
        <p:nvSpPr>
          <p:cNvPr id="201" name="Google Shape;201;p25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090"/>
              <a:buChar char="⚫"/>
              <a:defRPr sz="1100"/>
            </a:pPr>
            <a:r>
              <a:t>Standard Tizen keys. Return/Exit not modified. Volume uses TV system.</a:t>
            </a:r>
            <a:endParaRPr i="1" sz="2200">
              <a:solidFill>
                <a:srgbClr val="54A838"/>
              </a:solidFill>
            </a:endParaRPr>
          </a:p>
        </p:txBody>
      </p:sp>
      <p:graphicFrame>
        <p:nvGraphicFramePr>
          <p:cNvPr id="202" name="Google Shape;202;p25"/>
          <p:cNvGraphicFramePr/>
          <p:nvPr/>
        </p:nvGraphicFramePr>
        <p:xfrm>
          <a:off x="539552" y="24928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{F0D7D541-CF8F-4543-9F64-9DD65BD08CB1}</a:tableStyleId>
              </a:tblPr>
              <a:tblGrid>
                <a:gridCol w="1391750"/>
                <a:gridCol w="4728925"/>
                <a:gridCol w="1800200"/>
              </a:tblGrid>
              <a:tr h="366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3F3F3F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6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onstantia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3F3F3F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onstantia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500"/>
                        <a:buFont typeface="Century Gothic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F3F3F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Button</a:t>
                      </a:r>
                      <a:endParaRPr/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500"/>
                        <a:buFont typeface="Century Gothic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F3F3F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Action</a:t>
                      </a:r>
                      <a:endParaRPr/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500"/>
                        <a:buFont typeface="Century Gothic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F3F3F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Remarks</a:t>
                      </a:r>
                      <a:endParaRPr/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AEA"/>
                    </a:solidFill>
                  </a:tcPr>
                </a:tc>
              </a:tr>
              <a:tr h="309000">
                <a:tc>
                  <a:txBody>
                    <a:bodyPr/>
                    <a:lstStyle/>
                    <a:p>
                      <a:r>
                        <a:t>UP / DOWN / LEFT / RIGHT</a:t>
                      </a:r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Move focus between UI elements</a:t>
                      </a:r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9000">
                <a:tc>
                  <a:txBody>
                    <a:bodyPr/>
                    <a:lstStyle/>
                    <a:p>
                      <a:r>
                        <a:t>OK / ENTER</a:t>
                      </a:r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Activate focused button; play content</a:t>
                      </a:r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9000">
                <a:tc>
                  <a:txBody>
                    <a:bodyPr/>
                    <a:lstStyle/>
                    <a:p>
                      <a:r>
                        <a:t>Return</a:t>
                      </a:r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Back one screen; exit [Player Overlay]</a:t>
                      </a:r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Samsung Mandatory</a:t>
                      </a:r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9000">
                <a:tc>
                  <a:txBody>
                    <a:bodyPr/>
                    <a:lstStyle/>
                    <a:p>
                      <a:r>
                        <a:t>Exit</a:t>
                      </a:r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Close application (system)</a:t>
                      </a:r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Samsung Mandatory</a:t>
                      </a:r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9000">
                <a:tc>
                  <a:txBody>
                    <a:bodyPr/>
                    <a:lstStyle/>
                    <a:p>
                      <a:r>
                        <a:t>Play / Pause</a:t>
                      </a:r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Toggle playback in player when focused</a:t>
                      </a:r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9000">
                <a:tc>
                  <a:txBody>
                    <a:bodyPr/>
                    <a:lstStyle/>
                    <a:p>
                      <a:r>
                        <a:t>Ch. Up/Down</a:t>
                      </a:r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Not used by app (N/R)</a:t>
                      </a:r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9000">
                <a:tc>
                  <a:txBody>
                    <a:bodyPr/>
                    <a:lstStyle/>
                    <a:p>
                      <a:r>
                        <a:t>Color / Info / Tool keys</a:t>
                      </a:r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Not used by app (N/R)</a:t>
                      </a:r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9000">
                <a:tc>
                  <a:txBody>
                    <a:bodyPr/>
                    <a:lstStyle/>
                    <a:p>
                      <a:r>
                        <a:t>Volume +/-</a:t>
                      </a:r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TV system volume — not overridden by app</a:t>
                      </a:r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6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/>
              <a:t>How to change languages</a:t>
            </a:r>
            <a:endParaRPr/>
          </a:p>
        </p:txBody>
      </p:sp>
      <p:graphicFrame>
        <p:nvGraphicFramePr>
          <p:cNvPr id="208" name="Google Shape;208;p26"/>
          <p:cNvGraphicFramePr/>
          <p:nvPr/>
        </p:nvGraphicFramePr>
        <p:xfrm>
          <a:off x="467544" y="193516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{25375610-7600-4973-BF82-191DA6F836F1}</a:tableStyleId>
              </a:tblPr>
              <a:tblGrid>
                <a:gridCol w="1952100"/>
                <a:gridCol w="6267150"/>
              </a:tblGrid>
              <a:tr h="577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Items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Contents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50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How to</a:t>
                      </a:r>
                      <a:r>
                        <a:rPr lang="en-US" sz="1400"/>
                        <a:t> change languages</a:t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r>
                        <a:t>The application has no language options. English UI only. No in-app language selector. Content metadata language depends on the user's IPTV provider playlist.</a:t>
                      </a: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흐름">
  <a:themeElements>
    <a:clrScheme name="흐름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흐름">
  <a:themeElements>
    <a:clrScheme name="흐름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